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B9FF2D6-293F-4CAE-9E0C-B6556D359877}">
  <a:tblStyle styleId="{3B9FF2D6-293F-4CAE-9E0C-B6556D35987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11" Type="http://schemas.openxmlformats.org/officeDocument/2006/relationships/slide" Target="slides/slide5.xml"/><Relationship Id="rId22" Type="http://schemas.openxmlformats.org/officeDocument/2006/relationships/font" Target="fonts/Roboto-boldItalic.fntdata"/><Relationship Id="rId10" Type="http://schemas.openxmlformats.org/officeDocument/2006/relationships/slide" Target="slides/slide4.xml"/><Relationship Id="rId21" Type="http://schemas.openxmlformats.org/officeDocument/2006/relationships/font" Target="fonts/Robo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9e470d_0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9e470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48d73e49d_0_1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48d73e49d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48d73e49d_0_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48d73e49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c6f9e470d_0_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c6f9e470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c6f9e470d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c6f9e470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48d73e49d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48d73e49d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48d73e49d_2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48d73e49d_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48d73e49d_0_1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48d73e49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48d73e49d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d48d73e49d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48d73e49d_2_5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d48d73e49d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48d73e49d_2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d48d73e49d_2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Analisis Tingkat Penghunian Kamar (TPK) Hotel Klasifikasi Bintang di dki jakarta tahun 2024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Nama Kelompok 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d"/>
              <a:t>Marcelius Fradyco (20249320001)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d"/>
              <a:t>Gabriela Wijaya (20249320008)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PENDAHULUAN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432350" y="1304875"/>
            <a:ext cx="2469300" cy="6078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4"/>
          <p:cNvSpPr txBox="1"/>
          <p:nvPr>
            <p:ph idx="4294967295" type="body"/>
          </p:nvPr>
        </p:nvSpPr>
        <p:spPr>
          <a:xfrm>
            <a:off x="432350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700">
                <a:solidFill>
                  <a:schemeClr val="lt1"/>
                </a:solidFill>
              </a:rPr>
              <a:t>Variabel Independen (X)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4" name="Google Shape;94;p14"/>
          <p:cNvSpPr txBox="1"/>
          <p:nvPr>
            <p:ph idx="4294967295" type="body"/>
          </p:nvPr>
        </p:nvSpPr>
        <p:spPr>
          <a:xfrm>
            <a:off x="432350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600"/>
              <a:t>Waktu atau Periode Bulanan (Januari - Desember 2024)</a:t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80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95" name="Google Shape;95;p14"/>
          <p:cNvSpPr/>
          <p:nvPr/>
        </p:nvSpPr>
        <p:spPr>
          <a:xfrm>
            <a:off x="3044777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4"/>
          <p:cNvSpPr txBox="1"/>
          <p:nvPr>
            <p:ph idx="4294967295" type="body"/>
          </p:nvPr>
        </p:nvSpPr>
        <p:spPr>
          <a:xfrm>
            <a:off x="3336150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700">
                <a:solidFill>
                  <a:schemeClr val="lt1"/>
                </a:solidFill>
              </a:rPr>
              <a:t>Variabel Dependen (Y)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7" name="Google Shape;97;p14"/>
          <p:cNvSpPr txBox="1"/>
          <p:nvPr>
            <p:ph idx="4294967295" type="body"/>
          </p:nvPr>
        </p:nvSpPr>
        <p:spPr>
          <a:xfrm>
            <a:off x="3336146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600"/>
              <a:t>Presentase Tingkat Penghunian Kamar (TPK)</a:t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8" name="Google Shape;98;p14"/>
          <p:cNvSpPr/>
          <p:nvPr/>
        </p:nvSpPr>
        <p:spPr>
          <a:xfrm>
            <a:off x="5948502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4"/>
          <p:cNvSpPr txBox="1"/>
          <p:nvPr>
            <p:ph idx="4294967295" type="body"/>
          </p:nvPr>
        </p:nvSpPr>
        <p:spPr>
          <a:xfrm>
            <a:off x="6254233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700">
                <a:solidFill>
                  <a:schemeClr val="lt1"/>
                </a:solidFill>
              </a:rPr>
              <a:t>Tujuan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0" name="Google Shape;100;p14"/>
          <p:cNvSpPr txBox="1"/>
          <p:nvPr>
            <p:ph idx="4294967295" type="body"/>
          </p:nvPr>
        </p:nvSpPr>
        <p:spPr>
          <a:xfrm>
            <a:off x="6254226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600"/>
              <a:t>Menganalisis fluktasi hunian hotel untuk memprediksi peluang bisnis di masa depan</a:t>
            </a:r>
            <a:endParaRPr b="1" sz="1600"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/>
          <p:nvPr>
            <p:ph type="title"/>
          </p:nvPr>
        </p:nvSpPr>
        <p:spPr>
          <a:xfrm>
            <a:off x="278375" y="2164350"/>
            <a:ext cx="4045200" cy="81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SUMBER DATA</a:t>
            </a:r>
            <a:endParaRPr/>
          </a:p>
        </p:txBody>
      </p:sp>
      <p:sp>
        <p:nvSpPr>
          <p:cNvPr id="106" name="Google Shape;106;p15"/>
          <p:cNvSpPr txBox="1"/>
          <p:nvPr>
            <p:ph idx="2" type="body"/>
          </p:nvPr>
        </p:nvSpPr>
        <p:spPr>
          <a:xfrm>
            <a:off x="4757075" y="1282650"/>
            <a:ext cx="4303800" cy="25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id" sz="2000"/>
              <a:t>https://www.bps.go.id/id/statistics-table/2/MTIyIzI=/tingkat-penghunian-kamar-pada-hotel-bintang.html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" name="Google Shape;111;p16"/>
          <p:cNvGraphicFramePr/>
          <p:nvPr/>
        </p:nvGraphicFramePr>
        <p:xfrm>
          <a:off x="-37" y="1850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{3B9FF2D6-293F-4CAE-9E0C-B6556D359877}</a:tableStyleId>
              </a:tblPr>
              <a:tblGrid>
                <a:gridCol w="653150"/>
                <a:gridCol w="653150"/>
                <a:gridCol w="653150"/>
                <a:gridCol w="653150"/>
                <a:gridCol w="653150"/>
                <a:gridCol w="653150"/>
                <a:gridCol w="653150"/>
                <a:gridCol w="653150"/>
                <a:gridCol w="653150"/>
                <a:gridCol w="691575"/>
                <a:gridCol w="614700"/>
                <a:gridCol w="653150"/>
                <a:gridCol w="653150"/>
                <a:gridCol w="653150"/>
              </a:tblGrid>
              <a:tr h="377125"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Provinsi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1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Tingkat Penghunian Kamar pada Hotel Bintang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09550">
                <a:tc vMerge="1"/>
                <a:tc gridSpan="1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2024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095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Januari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Februari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Maret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April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Mei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Juni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Juli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Agustus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September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Oktober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November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Desember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Tahunan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DKI JAKARTA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51,73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51,08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44,08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43,47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52,79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51,54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54,23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53,28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53,47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59,78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60,53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62,05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53,38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Bentuk pointer background dalam grafik lini masa" id="116" name="Google Shape;116;p17"/>
          <p:cNvSpPr/>
          <p:nvPr/>
        </p:nvSpPr>
        <p:spPr>
          <a:xfrm>
            <a:off x="1817054" y="2443929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7"/>
          <p:cNvSpPr txBox="1"/>
          <p:nvPr>
            <p:ph idx="4294967295" type="body"/>
          </p:nvPr>
        </p:nvSpPr>
        <p:spPr>
          <a:xfrm>
            <a:off x="2126317" y="2581479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600">
                <a:solidFill>
                  <a:schemeClr val="lt1"/>
                </a:solidFill>
              </a:rPr>
              <a:t>53,17%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118" name="Google Shape;118;p17"/>
          <p:cNvGrpSpPr/>
          <p:nvPr/>
        </p:nvGrpSpPr>
        <p:grpSpPr>
          <a:xfrm>
            <a:off x="2684632" y="3183886"/>
            <a:ext cx="198900" cy="593656"/>
            <a:chOff x="2223534" y="2938958"/>
            <a:chExt cx="198900" cy="593656"/>
          </a:xfrm>
        </p:grpSpPr>
        <p:cxnSp>
          <p:nvCxnSpPr>
            <p:cNvPr id="119" name="Google Shape;119;p17"/>
            <p:cNvCxnSpPr/>
            <p:nvPr/>
          </p:nvCxnSpPr>
          <p:spPr>
            <a:xfrm rot="10800000">
              <a:off x="2322997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0" name="Google Shape;120;p17"/>
            <p:cNvSpPr/>
            <p:nvPr/>
          </p:nvSpPr>
          <p:spPr>
            <a:xfrm flipH="1" rot="10800000">
              <a:off x="2223534" y="3333714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1" name="Google Shape;121;p17"/>
          <p:cNvSpPr txBox="1"/>
          <p:nvPr>
            <p:ph idx="4294967295" type="body"/>
          </p:nvPr>
        </p:nvSpPr>
        <p:spPr>
          <a:xfrm>
            <a:off x="1662687" y="4002654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id" sz="1600"/>
              <a:t>Rata-rata (Mean)</a:t>
            </a:r>
            <a:endParaRPr sz="1600"/>
          </a:p>
        </p:txBody>
      </p:sp>
      <p:sp>
        <p:nvSpPr>
          <p:cNvPr descr="Bentuk pointer background dalam grafik lini masa" id="122" name="Google Shape;122;p17"/>
          <p:cNvSpPr/>
          <p:nvPr/>
        </p:nvSpPr>
        <p:spPr>
          <a:xfrm>
            <a:off x="3471973" y="2443929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 txBox="1"/>
          <p:nvPr>
            <p:ph idx="4294967295" type="body"/>
          </p:nvPr>
        </p:nvSpPr>
        <p:spPr>
          <a:xfrm>
            <a:off x="3767755" y="2581479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600">
                <a:solidFill>
                  <a:schemeClr val="lt1"/>
                </a:solidFill>
              </a:rPr>
              <a:t>33,08%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124" name="Google Shape;124;p17"/>
          <p:cNvGrpSpPr/>
          <p:nvPr/>
        </p:nvGrpSpPr>
        <p:grpSpPr>
          <a:xfrm>
            <a:off x="4319545" y="1855144"/>
            <a:ext cx="198900" cy="593656"/>
            <a:chOff x="3918084" y="1610215"/>
            <a:chExt cx="198900" cy="593656"/>
          </a:xfrm>
        </p:grpSpPr>
        <p:cxnSp>
          <p:nvCxnSpPr>
            <p:cNvPr id="125" name="Google Shape;125;p17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6" name="Google Shape;126;p17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7" name="Google Shape;127;p17"/>
          <p:cNvSpPr txBox="1"/>
          <p:nvPr>
            <p:ph idx="4294967295" type="body"/>
          </p:nvPr>
        </p:nvSpPr>
        <p:spPr>
          <a:xfrm>
            <a:off x="3297600" y="1252074"/>
            <a:ext cx="2242800" cy="4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id" sz="1600"/>
              <a:t>Varians</a:t>
            </a:r>
            <a:endParaRPr sz="1600"/>
          </a:p>
        </p:txBody>
      </p:sp>
      <p:sp>
        <p:nvSpPr>
          <p:cNvPr descr="Bentuk pointer background dalam grafik lini masa" id="128" name="Google Shape;128;p17"/>
          <p:cNvSpPr/>
          <p:nvPr/>
        </p:nvSpPr>
        <p:spPr>
          <a:xfrm>
            <a:off x="5126893" y="2443929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7"/>
          <p:cNvSpPr txBox="1"/>
          <p:nvPr>
            <p:ph idx="4294967295" type="body"/>
          </p:nvPr>
        </p:nvSpPr>
        <p:spPr>
          <a:xfrm>
            <a:off x="5416699" y="2581479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600">
                <a:solidFill>
                  <a:schemeClr val="lt1"/>
                </a:solidFill>
              </a:rPr>
              <a:t>5,75%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130" name="Google Shape;130;p17"/>
          <p:cNvGrpSpPr/>
          <p:nvPr/>
        </p:nvGrpSpPr>
        <p:grpSpPr>
          <a:xfrm>
            <a:off x="5973070" y="3183886"/>
            <a:ext cx="198900" cy="593656"/>
            <a:chOff x="5958946" y="2938958"/>
            <a:chExt cx="198900" cy="593656"/>
          </a:xfrm>
        </p:grpSpPr>
        <p:cxnSp>
          <p:nvCxnSpPr>
            <p:cNvPr id="131" name="Google Shape;131;p17"/>
            <p:cNvCxnSpPr/>
            <p:nvPr/>
          </p:nvCxnSpPr>
          <p:spPr>
            <a:xfrm rot="10800000">
              <a:off x="6058409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2" name="Google Shape;132;p17"/>
            <p:cNvSpPr/>
            <p:nvPr/>
          </p:nvSpPr>
          <p:spPr>
            <a:xfrm flipH="1" rot="10800000">
              <a:off x="5958946" y="3333714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" name="Google Shape;133;p17"/>
          <p:cNvSpPr txBox="1"/>
          <p:nvPr>
            <p:ph idx="4294967295" type="body"/>
          </p:nvPr>
        </p:nvSpPr>
        <p:spPr>
          <a:xfrm>
            <a:off x="5031052" y="3909554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id" sz="1600"/>
              <a:t>Standar Deviasi</a:t>
            </a:r>
            <a:endParaRPr sz="1600"/>
          </a:p>
        </p:txBody>
      </p:sp>
      <p:sp>
        <p:nvSpPr>
          <p:cNvPr id="134" name="Google Shape;134;p17"/>
          <p:cNvSpPr txBox="1"/>
          <p:nvPr/>
        </p:nvSpPr>
        <p:spPr>
          <a:xfrm>
            <a:off x="436500" y="420775"/>
            <a:ext cx="7965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4200">
                <a:solidFill>
                  <a:schemeClr val="lt1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Deskripsi Statistik</a:t>
            </a:r>
            <a:endParaRPr sz="4200">
              <a:solidFill>
                <a:schemeClr val="lt1"/>
              </a:solidFill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/>
          <p:nvPr>
            <p:ph type="title"/>
          </p:nvPr>
        </p:nvSpPr>
        <p:spPr>
          <a:xfrm>
            <a:off x="265500" y="1576050"/>
            <a:ext cx="4045200" cy="199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Analisis Angka Baku (Z-Score) &amp; Sebaran Data</a:t>
            </a:r>
            <a:endParaRPr/>
          </a:p>
        </p:txBody>
      </p:sp>
      <p:sp>
        <p:nvSpPr>
          <p:cNvPr id="140" name="Google Shape;140;p18"/>
          <p:cNvSpPr txBox="1"/>
          <p:nvPr>
            <p:ph idx="2" type="body"/>
          </p:nvPr>
        </p:nvSpPr>
        <p:spPr>
          <a:xfrm>
            <a:off x="4965275" y="1282650"/>
            <a:ext cx="3837000" cy="25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2000"/>
              <a:t>Analisis Sifat Data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id" sz="2000"/>
              <a:t>Data ini bersifat Heterogen (Menyebar Luas) karena rentang Z-Score yang besar.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/>
          <p:nvPr/>
        </p:nvSpPr>
        <p:spPr>
          <a:xfrm>
            <a:off x="0" y="0"/>
            <a:ext cx="6165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3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Temuan Data Extrem</a:t>
            </a:r>
            <a:endParaRPr sz="3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0" y="769500"/>
            <a:ext cx="8519400" cy="12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Penurunan Drastis (Maret) : Z = -1,6</a:t>
            </a:r>
            <a:r>
              <a:rPr lang="id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8. Hal ini di akibatkan adanya siklus Low season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id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Lonjakan Tinggi (November) Z = 1,54. Hal ini dapat terjadi karena aktivitas High Season di akhir tahun. 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47" name="Google Shape;147;p19"/>
          <p:cNvGraphicFramePr/>
          <p:nvPr/>
        </p:nvGraphicFramePr>
        <p:xfrm>
          <a:off x="-28575" y="193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{3B9FF2D6-293F-4CAE-9E0C-B6556D359877}</a:tableStyleId>
              </a:tblPr>
              <a:tblGrid>
                <a:gridCol w="820725"/>
                <a:gridCol w="640275"/>
                <a:gridCol w="575800"/>
                <a:gridCol w="575800"/>
                <a:gridCol w="653150"/>
                <a:gridCol w="653150"/>
                <a:gridCol w="653150"/>
                <a:gridCol w="653150"/>
                <a:gridCol w="588700"/>
                <a:gridCol w="820725"/>
                <a:gridCol w="627375"/>
                <a:gridCol w="666050"/>
                <a:gridCol w="678900"/>
                <a:gridCol w="537150"/>
              </a:tblGrid>
              <a:tr h="209550"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Provinsi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1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Tingkat Penghunian Kamar pada Hotel Bintang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09550">
                <a:tc vMerge="1"/>
                <a:tc gridSpan="1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2024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095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Januari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Februari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Maret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April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Mei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Juni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Juli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Agustus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September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Oktober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November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Desember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Tahunan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DKI JAKARTA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51,73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51,08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44,08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43,47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52,79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51,54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54,23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53,28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53,47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59,78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60,53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62,05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53,38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Rata-rata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53,16916667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Varians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33,08208106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Standar Deviasi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5,751702449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-0,250215772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-0,36322579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-1,58026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-1,68631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-0,06592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-0,28325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0,184438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0,01927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0,052303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1,14936984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1,279766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1,5440356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0,0366558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/>
          <p:nvPr/>
        </p:nvSpPr>
        <p:spPr>
          <a:xfrm>
            <a:off x="136750" y="68450"/>
            <a:ext cx="6165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3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Peluang Kejadian T</a:t>
            </a:r>
            <a:r>
              <a:rPr lang="id" sz="3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unggal</a:t>
            </a:r>
            <a:endParaRPr sz="3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20"/>
          <p:cNvSpPr txBox="1"/>
          <p:nvPr>
            <p:ph idx="4294967295" type="body"/>
          </p:nvPr>
        </p:nvSpPr>
        <p:spPr>
          <a:xfrm>
            <a:off x="136750" y="837950"/>
            <a:ext cx="8133000" cy="12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600"/>
              <a:t>Kasus : bulan</a:t>
            </a:r>
            <a:r>
              <a:rPr b="1" lang="id" sz="1600"/>
              <a:t> deng</a:t>
            </a:r>
            <a:r>
              <a:rPr b="1" lang="id" sz="1600"/>
              <a:t>an peluang okupansi yang sangat ramai mencapai  (TPK &gt; 60%) yaitu berada pada bulan November dan Desember(2 bulan).</a:t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id" sz="1600"/>
              <a:t>Hasil: P(A) = 2/12 = 0,166 atau 16,7% </a:t>
            </a:r>
            <a:endParaRPr b="1" sz="1600"/>
          </a:p>
        </p:txBody>
      </p:sp>
      <p:sp>
        <p:nvSpPr>
          <p:cNvPr id="154" name="Google Shape;154;p20"/>
          <p:cNvSpPr txBox="1"/>
          <p:nvPr/>
        </p:nvSpPr>
        <p:spPr>
          <a:xfrm>
            <a:off x="136750" y="2429950"/>
            <a:ext cx="7867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3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Peluang Kejadian Saling Lepas</a:t>
            </a:r>
            <a:endParaRPr sz="3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20"/>
          <p:cNvSpPr txBox="1"/>
          <p:nvPr/>
        </p:nvSpPr>
        <p:spPr>
          <a:xfrm>
            <a:off x="136750" y="3341250"/>
            <a:ext cx="76995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Menggabungkan peluang sangat ramai (&gt; 60%) dan sangat sepi (&lt; 45%), karena sebuah hotel tidak bisa sangat ramai sekaligus sangat sepi di satu bulan yang sama.</a:t>
            </a:r>
            <a:endParaRPr b="1"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id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Hasil P(A </a:t>
            </a:r>
            <a:r>
              <a:rPr b="1" i="1" lang="id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 </a:t>
            </a:r>
            <a:r>
              <a:rPr b="1" lang="id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B)= 0,333 atau 33,3%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IDENTIFIKASI DISTRIBUSI PELUANG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1"/>
          <p:cNvSpPr/>
          <p:nvPr/>
        </p:nvSpPr>
        <p:spPr>
          <a:xfrm>
            <a:off x="715950" y="1304875"/>
            <a:ext cx="2469300" cy="6078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1"/>
          <p:cNvSpPr txBox="1"/>
          <p:nvPr>
            <p:ph idx="4294967295" type="body"/>
          </p:nvPr>
        </p:nvSpPr>
        <p:spPr>
          <a:xfrm>
            <a:off x="715950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chemeClr val="lt1"/>
                </a:solidFill>
              </a:rPr>
              <a:t>Jenis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3" name="Google Shape;163;p21"/>
          <p:cNvSpPr txBox="1"/>
          <p:nvPr>
            <p:ph idx="4294967295" type="body"/>
          </p:nvPr>
        </p:nvSpPr>
        <p:spPr>
          <a:xfrm>
            <a:off x="715950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id" sz="1600"/>
              <a:t>Distribusi Kontinu</a:t>
            </a:r>
            <a:endParaRPr b="1" sz="1600"/>
          </a:p>
        </p:txBody>
      </p:sp>
      <p:sp>
        <p:nvSpPr>
          <p:cNvPr id="164" name="Google Shape;164;p21"/>
          <p:cNvSpPr/>
          <p:nvPr/>
        </p:nvSpPr>
        <p:spPr>
          <a:xfrm>
            <a:off x="5506971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1"/>
          <p:cNvSpPr txBox="1"/>
          <p:nvPr>
            <p:ph idx="4294967295" type="body"/>
          </p:nvPr>
        </p:nvSpPr>
        <p:spPr>
          <a:xfrm>
            <a:off x="6366622" y="1451563"/>
            <a:ext cx="10413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chemeClr val="lt1"/>
                </a:solidFill>
              </a:rPr>
              <a:t>Alasan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6" name="Google Shape;166;p21"/>
          <p:cNvSpPr txBox="1"/>
          <p:nvPr>
            <p:ph idx="4294967295" type="body"/>
          </p:nvPr>
        </p:nvSpPr>
        <p:spPr>
          <a:xfrm>
            <a:off x="5798340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600"/>
              <a:t>Data TPK memiliki nilai desimal (angka di belakang koma) dan berada dalam rentang kontinu 0%  - 100%. </a:t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/>
          <p:nvPr/>
        </p:nvSpPr>
        <p:spPr>
          <a:xfrm>
            <a:off x="90150" y="287600"/>
            <a:ext cx="848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3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Prediksi Peluang Target Okupansi 70% </a:t>
            </a:r>
            <a:endParaRPr sz="3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22"/>
          <p:cNvSpPr txBox="1"/>
          <p:nvPr>
            <p:ph idx="4294967295" type="body"/>
          </p:nvPr>
        </p:nvSpPr>
        <p:spPr>
          <a:xfrm>
            <a:off x="266550" y="2732950"/>
            <a:ext cx="8133000" cy="16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600"/>
              <a:t>Hasil Perhitungan : Peluang TPK DKI Jakarta menemus angka 70% adalah 0,0017 atau hanya 0,17%</a:t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id" sz="1600"/>
              <a:t>Kesimpulan : Target 70% secara statistik hampir mustahil tercapai secara alami tanpa adanya intervensi pemasaran atau event besar.</a:t>
            </a:r>
            <a:endParaRPr b="1" sz="1600"/>
          </a:p>
        </p:txBody>
      </p:sp>
      <p:graphicFrame>
        <p:nvGraphicFramePr>
          <p:cNvPr id="173" name="Google Shape;173;p22"/>
          <p:cNvGraphicFramePr/>
          <p:nvPr/>
        </p:nvGraphicFramePr>
        <p:xfrm>
          <a:off x="266550" y="136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{3B9FF2D6-293F-4CAE-9E0C-B6556D359877}</a:tableStyleId>
              </a:tblPr>
              <a:tblGrid>
                <a:gridCol w="1355500"/>
                <a:gridCol w="2328150"/>
                <a:gridCol w="1355500"/>
                <a:gridCol w="1355500"/>
                <a:gridCol w="1355500"/>
                <a:gridCol w="382850"/>
              </a:tblGrid>
              <a:tr h="209550">
                <a:tc gridSpan="6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Rumus prediksi peluang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</a:tr>
              <a:tr h="209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0,001715458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Peluang hotel untuk mencapai TPK di atas 70% hanya sebesar 0,17%</a:t>
                      </a:r>
                      <a:endParaRPr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kesimpulan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3"/>
          <p:cNvSpPr/>
          <p:nvPr/>
        </p:nvSpPr>
        <p:spPr>
          <a:xfrm>
            <a:off x="715950" y="1304875"/>
            <a:ext cx="2469300" cy="6078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3"/>
          <p:cNvSpPr txBox="1"/>
          <p:nvPr>
            <p:ph idx="4294967295" type="body"/>
          </p:nvPr>
        </p:nvSpPr>
        <p:spPr>
          <a:xfrm>
            <a:off x="715950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chemeClr val="lt1"/>
                </a:solidFill>
              </a:rPr>
              <a:t>Ringkasan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1" name="Google Shape;181;p23"/>
          <p:cNvSpPr txBox="1"/>
          <p:nvPr>
            <p:ph idx="4294967295" type="body"/>
          </p:nvPr>
        </p:nvSpPr>
        <p:spPr>
          <a:xfrm>
            <a:off x="715950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id" sz="1600"/>
              <a:t>Performa hotel bintang di Jakarta tahun 2024 sangat dipengaruhi pola musiman (Ramadan dan Libur Akhir Tahun)</a:t>
            </a:r>
            <a:endParaRPr b="1" sz="1600"/>
          </a:p>
        </p:txBody>
      </p:sp>
      <p:sp>
        <p:nvSpPr>
          <p:cNvPr id="182" name="Google Shape;182;p23"/>
          <p:cNvSpPr/>
          <p:nvPr/>
        </p:nvSpPr>
        <p:spPr>
          <a:xfrm>
            <a:off x="5506971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3"/>
          <p:cNvSpPr txBox="1"/>
          <p:nvPr>
            <p:ph idx="4294967295" type="body"/>
          </p:nvPr>
        </p:nvSpPr>
        <p:spPr>
          <a:xfrm>
            <a:off x="6366622" y="1451563"/>
            <a:ext cx="10413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chemeClr val="lt1"/>
                </a:solidFill>
              </a:rPr>
              <a:t>Saran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4" name="Google Shape;184;p23"/>
          <p:cNvSpPr txBox="1"/>
          <p:nvPr>
            <p:ph idx="4294967295" type="body"/>
          </p:nvPr>
        </p:nvSpPr>
        <p:spPr>
          <a:xfrm>
            <a:off x="5798340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600"/>
              <a:t>Hotel perlu waspada pada bulan Maret-April dan memaksimalkan pendapatan di bulan November-Desember.</a:t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/>
          <p:nvPr>
            <p:ph type="title"/>
          </p:nvPr>
        </p:nvSpPr>
        <p:spPr>
          <a:xfrm>
            <a:off x="1091000" y="1431425"/>
            <a:ext cx="7431000" cy="18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0000"/>
              <a:t>THANK YOU</a:t>
            </a:r>
            <a:endParaRPr sz="10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